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383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>
                <a:solidFill>
                  <a:srgbClr val="595959"/>
                </a:solidFill>
                <a:latin typeface="Nunito"/>
              </a:rPr>
              <a:t>TALENT &amp; TEAM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3949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100" b="1" i="0">
                <a:solidFill>
                  <a:srgbClr val="141414"/>
                </a:solidFill>
                <a:latin typeface="Nunito"/>
              </a:rPr>
              <a:t>Squad Profiles</a:t>
            </a:r>
          </a:p>
        </p:txBody>
      </p:sp>
      <p:sp>
        <p:nvSpPr>
          <p:cNvPr id="4" name="Oval 3"/>
          <p:cNvSpPr/>
          <p:nvPr/>
        </p:nvSpPr>
        <p:spPr>
          <a:xfrm>
            <a:off x="9887407" y="356616"/>
            <a:ext cx="82296" cy="82296"/>
          </a:xfrm>
          <a:prstGeom prst="ellipse">
            <a:avLst/>
          </a:prstGeom>
          <a:solidFill>
            <a:srgbClr val="EFA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15423" y="338328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 i="0">
                <a:solidFill>
                  <a:srgbClr val="595959"/>
                </a:solidFill>
                <a:latin typeface="Nunito"/>
              </a:rPr>
              <a:t>Typically client filled</a:t>
            </a:r>
          </a:p>
        </p:txBody>
      </p:sp>
      <p:sp>
        <p:nvSpPr>
          <p:cNvPr id="6" name="Oval 5"/>
          <p:cNvSpPr/>
          <p:nvPr/>
        </p:nvSpPr>
        <p:spPr>
          <a:xfrm>
            <a:off x="9887407" y="557784"/>
            <a:ext cx="82296" cy="8229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15423" y="539496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 i="0">
                <a:solidFill>
                  <a:srgbClr val="595959"/>
                </a:solidFill>
                <a:latin typeface="Nunito"/>
              </a:rPr>
              <a:t>Typically Accenture filled</a:t>
            </a:r>
          </a:p>
        </p:txBody>
      </p:sp>
      <p:sp>
        <p:nvSpPr>
          <p:cNvPr id="8" name="Oval 7"/>
          <p:cNvSpPr/>
          <p:nvPr/>
        </p:nvSpPr>
        <p:spPr>
          <a:xfrm>
            <a:off x="9887407" y="758952"/>
            <a:ext cx="82296" cy="82296"/>
          </a:xfrm>
          <a:prstGeom prst="ellipse">
            <a:avLst/>
          </a:prstGeom>
          <a:gradFill rotWithShape="1">
            <a:gsLst>
              <a:gs pos="0">
                <a:srgbClr val="EFA73D"/>
              </a:gs>
              <a:gs pos="100000">
                <a:srgbClr val="7B1FA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15423" y="740664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 i="0">
                <a:solidFill>
                  <a:srgbClr val="595959"/>
                </a:solidFill>
                <a:latin typeface="Nunito"/>
              </a:rPr>
              <a:t>Filled by either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978407"/>
            <a:ext cx="777240" cy="384048"/>
          </a:xfrm>
          <a:prstGeom prst="roundRect">
            <a:avLst>
              <a:gd name="adj" fmla="val 6000"/>
            </a:avLst>
          </a:prstGeom>
          <a:solidFill>
            <a:srgbClr val="0F3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69848"/>
            <a:ext cx="630936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Portfolio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9304" y="978407"/>
            <a:ext cx="2606725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62456" y="1097279"/>
            <a:ext cx="64008" cy="64008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72184" y="1033271"/>
            <a:ext cx="2350693" cy="1463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1" i="0">
                <a:solidFill>
                  <a:srgbClr val="141414"/>
                </a:solidFill>
                <a:latin typeface="Nunito"/>
              </a:rPr>
              <a:t>Delivery Leadership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184" y="1179575"/>
            <a:ext cx="2350693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600" b="0" i="0">
                <a:solidFill>
                  <a:srgbClr val="595959"/>
                </a:solidFill>
                <a:latin typeface="Nunito"/>
              </a:rPr>
              <a:t>Velocity and burn across squads; manages dependencies and escalation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05173" y="978407"/>
            <a:ext cx="2606725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78325" y="1097279"/>
            <a:ext cx="64008" cy="64008"/>
          </a:xfrm>
          <a:prstGeom prst="ellipse">
            <a:avLst/>
          </a:prstGeom>
          <a:gradFill rotWithShape="1">
            <a:gsLst>
              <a:gs pos="0">
                <a:srgbClr val="EFA73D"/>
              </a:gs>
              <a:gs pos="100000">
                <a:srgbClr val="7B1FA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8053" y="1033271"/>
            <a:ext cx="2350693" cy="1463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1" i="0">
                <a:solidFill>
                  <a:srgbClr val="141414"/>
                </a:solidFill>
                <a:latin typeface="Nunito"/>
              </a:rPr>
              <a:t>VRO &amp; Adoption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8053" y="1179575"/>
            <a:ext cx="2350693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600" b="0" i="0">
                <a:solidFill>
                  <a:srgbClr val="595959"/>
                </a:solidFill>
                <a:latin typeface="Nunito"/>
              </a:rPr>
              <a:t>Tracks agent adoption, cost-per-task, value realization vs business case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21043" y="978407"/>
            <a:ext cx="2606725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94195" y="1097279"/>
            <a:ext cx="64008" cy="64008"/>
          </a:xfrm>
          <a:prstGeom prst="ellipse">
            <a:avLst/>
          </a:prstGeom>
          <a:gradFill rotWithShape="1">
            <a:gsLst>
              <a:gs pos="0">
                <a:srgbClr val="EFA73D"/>
              </a:gs>
              <a:gs pos="100000">
                <a:srgbClr val="7B1FA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3923" y="1033271"/>
            <a:ext cx="2350693" cy="1463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1" i="0">
                <a:solidFill>
                  <a:srgbClr val="141414"/>
                </a:solidFill>
                <a:latin typeface="Nunito"/>
              </a:rPr>
              <a:t>Enterprise &amp; Strategic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3923" y="1179575"/>
            <a:ext cx="2350693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600" b="0" i="0">
                <a:solidFill>
                  <a:srgbClr val="595959"/>
                </a:solidFill>
                <a:latin typeface="Nunito"/>
              </a:rPr>
              <a:t>Aligns agent platform with enterprise AI strategy and integration landscape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36913" y="978407"/>
            <a:ext cx="2606725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10065" y="1097279"/>
            <a:ext cx="64008" cy="64008"/>
          </a:xfrm>
          <a:prstGeom prst="ellipse">
            <a:avLst/>
          </a:prstGeom>
          <a:solidFill>
            <a:srgbClr val="EFA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19793" y="1033271"/>
            <a:ext cx="2350693" cy="1463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1" i="0">
                <a:solidFill>
                  <a:srgbClr val="141414"/>
                </a:solidFill>
                <a:latin typeface="Nunito"/>
              </a:rPr>
              <a:t>Security &amp; Privacy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9793" y="1179575"/>
            <a:ext cx="2350693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600" b="0" i="0">
                <a:solidFill>
                  <a:srgbClr val="595959"/>
                </a:solidFill>
                <a:latin typeface="Nunito"/>
              </a:rPr>
              <a:t>Responsible AI governance, data classification, model risk approvals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1499615"/>
            <a:ext cx="1920240" cy="4901184"/>
          </a:xfrm>
          <a:prstGeom prst="roundRect">
            <a:avLst>
              <a:gd name="adj" fmla="val 4000"/>
            </a:avLst>
          </a:prstGeom>
          <a:solidFill>
            <a:srgbClr val="E7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1572767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>
                <a:solidFill>
                  <a:srgbClr val="0F3CC9"/>
                </a:solidFill>
                <a:latin typeface="Nunito"/>
              </a:rPr>
              <a:t>Persistent Squad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1737359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650" b="0" i="1">
                <a:solidFill>
                  <a:srgbClr val="595959"/>
                </a:solidFill>
                <a:latin typeface="Nunito"/>
              </a:rPr>
              <a:t>Present across all phases</a:t>
            </a:r>
          </a:p>
        </p:txBody>
      </p:sp>
      <p:sp>
        <p:nvSpPr>
          <p:cNvPr id="31" name="Oval 30"/>
          <p:cNvSpPr/>
          <p:nvPr/>
        </p:nvSpPr>
        <p:spPr>
          <a:xfrm>
            <a:off x="566928" y="1938527"/>
            <a:ext cx="59436" cy="59436"/>
          </a:xfrm>
          <a:prstGeom prst="ellipse">
            <a:avLst/>
          </a:prstGeom>
          <a:gradFill rotWithShape="1">
            <a:gsLst>
              <a:gs pos="0">
                <a:srgbClr val="EFA73D"/>
              </a:gs>
              <a:gs pos="100000">
                <a:srgbClr val="7B1FA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1920239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Squad Lead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Manages sprint planning, capacity allocation and cross-role dependencies; escalation point within the squad</a:t>
            </a:r>
          </a:p>
        </p:txBody>
      </p:sp>
      <p:sp>
        <p:nvSpPr>
          <p:cNvPr id="33" name="Oval 32"/>
          <p:cNvSpPr/>
          <p:nvPr/>
        </p:nvSpPr>
        <p:spPr>
          <a:xfrm>
            <a:off x="566928" y="2468879"/>
            <a:ext cx="59436" cy="5943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2450591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AI Solution Architect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Sits cross-squad; defines agent architecture, ensures alignment on tool graph, memory and guardrails</a:t>
            </a:r>
          </a:p>
        </p:txBody>
      </p:sp>
      <p:sp>
        <p:nvSpPr>
          <p:cNvPr id="35" name="Oval 34"/>
          <p:cNvSpPr/>
          <p:nvPr/>
        </p:nvSpPr>
        <p:spPr>
          <a:xfrm>
            <a:off x="566928" y="2999232"/>
            <a:ext cx="59436" cy="59436"/>
          </a:xfrm>
          <a:prstGeom prst="ellipse">
            <a:avLst/>
          </a:prstGeom>
          <a:solidFill>
            <a:srgbClr val="EFA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2980944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Product Owner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Prioritises features by business value and technical feasibility; defines evaluation acceptance criteria</a:t>
            </a:r>
          </a:p>
        </p:txBody>
      </p:sp>
      <p:sp>
        <p:nvSpPr>
          <p:cNvPr id="37" name="Oval 36"/>
          <p:cNvSpPr/>
          <p:nvPr/>
        </p:nvSpPr>
        <p:spPr>
          <a:xfrm>
            <a:off x="566928" y="3529584"/>
            <a:ext cx="59436" cy="5943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3511296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Forward Deployed AI Engineers</a:t>
            </a:r>
            <a:r>
              <a:rPr sz="700" b="1">
                <a:solidFill>
                  <a:srgbClr val="0F3CC9"/>
                </a:solidFill>
                <a:latin typeface="Nunito"/>
              </a:rPr>
              <a:t>  2-3x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Design and implement agent behaviors, tool integrations, evaluation pipelines and orchestration layers</a:t>
            </a:r>
          </a:p>
        </p:txBody>
      </p:sp>
      <p:sp>
        <p:nvSpPr>
          <p:cNvPr id="39" name="Oval 38"/>
          <p:cNvSpPr/>
          <p:nvPr/>
        </p:nvSpPr>
        <p:spPr>
          <a:xfrm>
            <a:off x="566928" y="4059935"/>
            <a:ext cx="59436" cy="5943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04164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Agent Behaviour Analyst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Translates business processes into agent behavior specifications and eval criteria; anticipates how agent capabilities replace static SOPs</a:t>
            </a:r>
          </a:p>
        </p:txBody>
      </p:sp>
      <p:sp>
        <p:nvSpPr>
          <p:cNvPr id="41" name="Oval 40"/>
          <p:cNvSpPr/>
          <p:nvPr/>
        </p:nvSpPr>
        <p:spPr>
          <a:xfrm>
            <a:off x="566928" y="4590288"/>
            <a:ext cx="59436" cy="59436"/>
          </a:xfrm>
          <a:prstGeom prst="ellipse">
            <a:avLst/>
          </a:prstGeom>
          <a:gradFill rotWithShape="1">
            <a:gsLst>
              <a:gs pos="0">
                <a:srgbClr val="EFA73D"/>
              </a:gs>
              <a:gs pos="100000">
                <a:srgbClr val="7B1FA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4572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Business SME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Supplies domain ground-truth and validates agent outputs against real-world accuracy and compliance standards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87168" y="1499615"/>
            <a:ext cx="2252395" cy="4901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78608" y="1572767"/>
            <a:ext cx="2069515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>
                <a:solidFill>
                  <a:srgbClr val="141414"/>
                </a:solidFill>
                <a:latin typeface="Nunito"/>
              </a:rPr>
              <a:t>Discovery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78608" y="1737359"/>
            <a:ext cx="2069515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600" b="0" i="1">
                <a:solidFill>
                  <a:srgbClr val="595959"/>
                </a:solidFill>
                <a:latin typeface="Nunito"/>
              </a:rPr>
              <a:t>Validate agent feasibility, define target journeys and establish evaluation criteria</a:t>
            </a:r>
          </a:p>
        </p:txBody>
      </p:sp>
      <p:sp>
        <p:nvSpPr>
          <p:cNvPr id="46" name="Oval 45"/>
          <p:cNvSpPr/>
          <p:nvPr/>
        </p:nvSpPr>
        <p:spPr>
          <a:xfrm>
            <a:off x="2578608" y="2048255"/>
            <a:ext cx="59436" cy="59436"/>
          </a:xfrm>
          <a:prstGeom prst="ellipse">
            <a:avLst/>
          </a:prstGeom>
          <a:gradFill rotWithShape="1">
            <a:gsLst>
              <a:gs pos="0">
                <a:srgbClr val="EFA73D"/>
              </a:gs>
              <a:gs pos="100000">
                <a:srgbClr val="7B1FA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70048" y="2029967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AI Solution Architect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Maps source data, APIs and integration points; validates what agents can feasibly access and act on</a:t>
            </a:r>
          </a:p>
        </p:txBody>
      </p:sp>
      <p:sp>
        <p:nvSpPr>
          <p:cNvPr id="48" name="Oval 47"/>
          <p:cNvSpPr/>
          <p:nvPr/>
        </p:nvSpPr>
        <p:spPr>
          <a:xfrm>
            <a:off x="2578608" y="2551175"/>
            <a:ext cx="59436" cy="5943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70048" y="2532887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UX Designer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Produces high-fidelity prototypes to validate user interaction patterns with agent-driven interfaces</a:t>
            </a:r>
          </a:p>
        </p:txBody>
      </p:sp>
      <p:sp>
        <p:nvSpPr>
          <p:cNvPr id="50" name="Oval 49"/>
          <p:cNvSpPr/>
          <p:nvPr/>
        </p:nvSpPr>
        <p:spPr>
          <a:xfrm>
            <a:off x="2578608" y="3054095"/>
            <a:ext cx="59436" cy="5943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70048" y="3035807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Human-AI Experience (HAX) Designer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Designs agent persona, trust patterns, escalation moments and multi-modal interaction across voice, chat and gesture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496312" y="6144768"/>
            <a:ext cx="2234107" cy="237744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78608" y="6181344"/>
            <a:ext cx="2069515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600" b="0" i="1">
                <a:solidFill>
                  <a:srgbClr val="595959"/>
                </a:solidFill>
                <a:latin typeface="Nunito"/>
              </a:rPr>
              <a:t>FD AI Engineers at 2x during Discovery (bootstrapping agents and evals)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12715" y="1499615"/>
            <a:ext cx="2252395" cy="4901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04155" y="1572767"/>
            <a:ext cx="2069515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>
                <a:solidFill>
                  <a:srgbClr val="141414"/>
                </a:solidFill>
                <a:latin typeface="Nunito"/>
              </a:rPr>
              <a:t>Build &amp; Iterate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04155" y="1737359"/>
            <a:ext cx="2069515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600" b="0" i="1">
                <a:solidFill>
                  <a:srgbClr val="595959"/>
                </a:solidFill>
                <a:latin typeface="Nunito"/>
              </a:rPr>
              <a:t>Incremental agent delivery with continuous evaluation and prompt refinement</a:t>
            </a:r>
          </a:p>
        </p:txBody>
      </p:sp>
      <p:sp>
        <p:nvSpPr>
          <p:cNvPr id="57" name="Oval 56"/>
          <p:cNvSpPr/>
          <p:nvPr/>
        </p:nvSpPr>
        <p:spPr>
          <a:xfrm>
            <a:off x="4904155" y="2048255"/>
            <a:ext cx="59436" cy="5943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95595" y="2029967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Platform / Infra Engineer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Edge/core inference split, token metering, DFC integration</a:t>
            </a:r>
          </a:p>
        </p:txBody>
      </p:sp>
      <p:sp>
        <p:nvSpPr>
          <p:cNvPr id="59" name="Oval 58"/>
          <p:cNvSpPr/>
          <p:nvPr/>
        </p:nvSpPr>
        <p:spPr>
          <a:xfrm>
            <a:off x="4904155" y="2551175"/>
            <a:ext cx="59436" cy="5943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95595" y="2532887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Data Engineer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LifeGraph pipelines, cluster embeddings, signal infrastructure</a:t>
            </a:r>
          </a:p>
        </p:txBody>
      </p:sp>
      <p:sp>
        <p:nvSpPr>
          <p:cNvPr id="61" name="Oval 60"/>
          <p:cNvSpPr/>
          <p:nvPr/>
        </p:nvSpPr>
        <p:spPr>
          <a:xfrm>
            <a:off x="4904155" y="3054095"/>
            <a:ext cx="59436" cy="5943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95595" y="3035807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Front-end Developers</a:t>
            </a:r>
            <a:r>
              <a:rPr sz="700" b="1">
                <a:solidFill>
                  <a:srgbClr val="0F3CC9"/>
                </a:solidFill>
                <a:latin typeface="Nunito"/>
              </a:rPr>
              <a:t>  2x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Builds native applications, agent-facing interfaces, streaming chat components and operational dashboards</a:t>
            </a:r>
          </a:p>
        </p:txBody>
      </p:sp>
      <p:sp>
        <p:nvSpPr>
          <p:cNvPr id="63" name="Oval 62"/>
          <p:cNvSpPr/>
          <p:nvPr/>
        </p:nvSpPr>
        <p:spPr>
          <a:xfrm>
            <a:off x="4904155" y="3557015"/>
            <a:ext cx="59436" cy="5943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95595" y="3538727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QA &amp; Eval Engineer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Builds evaluation harnesses for non-deterministic agent behavior and regression suites for deterministic components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821859" y="6144768"/>
            <a:ext cx="2234107" cy="237744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04155" y="6181344"/>
            <a:ext cx="2069515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600" b="0" i="1">
                <a:solidFill>
                  <a:srgbClr val="595959"/>
                </a:solidFill>
                <a:latin typeface="Nunito"/>
              </a:rPr>
              <a:t>FD AI Engineers at peak 3x; observability, eval coverage and agent performance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38263" y="1499615"/>
            <a:ext cx="2252395" cy="4901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29703" y="1572767"/>
            <a:ext cx="2069515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>
                <a:solidFill>
                  <a:srgbClr val="141414"/>
                </a:solidFill>
                <a:latin typeface="Nunito"/>
              </a:rPr>
              <a:t>Harden &amp; Launch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9703" y="1737359"/>
            <a:ext cx="2069515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600" b="0" i="1">
                <a:solidFill>
                  <a:srgbClr val="595959"/>
                </a:solidFill>
                <a:latin typeface="Nunito"/>
              </a:rPr>
              <a:t>Adversarial testing, guardrail validation and production certification</a:t>
            </a:r>
          </a:p>
        </p:txBody>
      </p:sp>
      <p:sp>
        <p:nvSpPr>
          <p:cNvPr id="70" name="Oval 69"/>
          <p:cNvSpPr/>
          <p:nvPr/>
        </p:nvSpPr>
        <p:spPr>
          <a:xfrm>
            <a:off x="7229703" y="2048255"/>
            <a:ext cx="59436" cy="59436"/>
          </a:xfrm>
          <a:prstGeom prst="ellipse">
            <a:avLst/>
          </a:prstGeom>
          <a:solidFill>
            <a:srgbClr val="EFA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21143" y="2029967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Security Architect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Conducts security assessment including LLM-specific risks: prompt injection, data leakage, model exfiltration</a:t>
            </a:r>
          </a:p>
        </p:txBody>
      </p:sp>
      <p:sp>
        <p:nvSpPr>
          <p:cNvPr id="72" name="Oval 71"/>
          <p:cNvSpPr/>
          <p:nvPr/>
        </p:nvSpPr>
        <p:spPr>
          <a:xfrm>
            <a:off x="7229703" y="2487168"/>
            <a:ext cx="59436" cy="5943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21143" y="2468879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DevOps / AIOps Engineer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Implements CI/CD for agent deployments and eval suites; manages canary releases, rollback and production observability</a:t>
            </a:r>
          </a:p>
        </p:txBody>
      </p:sp>
      <p:sp>
        <p:nvSpPr>
          <p:cNvPr id="74" name="Oval 73"/>
          <p:cNvSpPr/>
          <p:nvPr/>
        </p:nvSpPr>
        <p:spPr>
          <a:xfrm>
            <a:off x="7229703" y="2926079"/>
            <a:ext cx="59436" cy="5943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21143" y="2907791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Site Reliability Engineer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Defines and enforces SLOs for inference latency, agent accuracy and availability; incident response for model degradation</a:t>
            </a:r>
          </a:p>
        </p:txBody>
      </p:sp>
      <p:sp>
        <p:nvSpPr>
          <p:cNvPr id="76" name="Oval 75"/>
          <p:cNvSpPr/>
          <p:nvPr/>
        </p:nvSpPr>
        <p:spPr>
          <a:xfrm>
            <a:off x="7229703" y="3364991"/>
            <a:ext cx="59436" cy="5943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21143" y="3346703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Technical &amp; AI QA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Systematically tests agent edge-cases through adversarial scenarios; validates guardrail effectiveness at scale</a:t>
            </a:r>
          </a:p>
        </p:txBody>
      </p:sp>
      <p:sp>
        <p:nvSpPr>
          <p:cNvPr id="78" name="Oval 77"/>
          <p:cNvSpPr/>
          <p:nvPr/>
        </p:nvSpPr>
        <p:spPr>
          <a:xfrm>
            <a:off x="7229703" y="3803903"/>
            <a:ext cx="59436" cy="59436"/>
          </a:xfrm>
          <a:prstGeom prst="ellipse">
            <a:avLst/>
          </a:prstGeom>
          <a:solidFill>
            <a:srgbClr val="EFA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21143" y="3785615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Security Representative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Responsible AI and security signoff before each release tier</a:t>
            </a:r>
          </a:p>
        </p:txBody>
      </p:sp>
      <p:sp>
        <p:nvSpPr>
          <p:cNvPr id="80" name="Oval 79"/>
          <p:cNvSpPr/>
          <p:nvPr/>
        </p:nvSpPr>
        <p:spPr>
          <a:xfrm>
            <a:off x="7229703" y="4242815"/>
            <a:ext cx="59436" cy="59436"/>
          </a:xfrm>
          <a:prstGeom prst="ellipse">
            <a:avLst/>
          </a:prstGeom>
          <a:solidFill>
            <a:srgbClr val="EFA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21143" y="4224527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Jio Integration Lead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Manages API integration with JioMart, JioFinance, JioCinema and UPI gateway; validates end-to-end data flows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147407" y="6144768"/>
            <a:ext cx="2234107" cy="237744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29703" y="6181344"/>
            <a:ext cx="2069515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600" b="0" i="1">
                <a:solidFill>
                  <a:srgbClr val="595959"/>
                </a:solidFill>
                <a:latin typeface="Nunito"/>
              </a:rPr>
              <a:t>FD AI Engineers at 2x; hardening agent behavior and production readiness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463811" y="1499615"/>
            <a:ext cx="2252395" cy="4901184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9525">
            <a:solidFill>
              <a:srgbClr val="E0E0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55251" y="1572767"/>
            <a:ext cx="2069515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>
                <a:solidFill>
                  <a:srgbClr val="141414"/>
                </a:solidFill>
                <a:latin typeface="Nunito"/>
              </a:rPr>
              <a:t>Steady-State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55251" y="1737359"/>
            <a:ext cx="2069515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600" b="0" i="1">
                <a:solidFill>
                  <a:srgbClr val="595959"/>
                </a:solidFill>
                <a:latin typeface="Nunito"/>
              </a:rPr>
              <a:t>Smaller feature cycles; model governance, agent refinement and new signals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55251" y="2029967"/>
            <a:ext cx="2069515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700">
                <a:solidFill>
                  <a:srgbClr val="595959"/>
                </a:solidFill>
                <a:latin typeface="Nunito"/>
              </a:rPr>
              <a:t>AI-native products do not transition to traditional BAU. Agents learn, models drift, new signals emerge. The squad stays on at </a:t>
            </a:r>
            <a:r>
              <a:rPr sz="700" b="1">
                <a:solidFill>
                  <a:srgbClr val="141414"/>
                </a:solidFill>
                <a:latin typeface="Nunito"/>
              </a:rPr>
              <a:t>25-40% capacity</a:t>
            </a:r>
            <a:r>
              <a:rPr sz="700">
                <a:solidFill>
                  <a:srgbClr val="595959"/>
                </a:solidFill>
                <a:latin typeface="Nunito"/>
              </a:rPr>
              <a:t> running shorter feature cycles.</a:t>
            </a:r>
          </a:p>
        </p:txBody>
      </p:sp>
      <p:sp>
        <p:nvSpPr>
          <p:cNvPr id="88" name="Oval 87"/>
          <p:cNvSpPr/>
          <p:nvPr/>
        </p:nvSpPr>
        <p:spPr>
          <a:xfrm>
            <a:off x="9555251" y="2551175"/>
            <a:ext cx="59436" cy="59436"/>
          </a:xfrm>
          <a:prstGeom prst="ellipse">
            <a:avLst/>
          </a:prstGeom>
          <a:gradFill rotWithShape="1">
            <a:gsLst>
              <a:gs pos="0">
                <a:srgbClr val="EFA73D"/>
              </a:gs>
              <a:gs pos="100000">
                <a:srgbClr val="7B1FA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646691" y="2532887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Squad Lead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Manages sprint cadence across smaller feature cycles</a:t>
            </a:r>
          </a:p>
        </p:txBody>
      </p:sp>
      <p:sp>
        <p:nvSpPr>
          <p:cNvPr id="90" name="Oval 89"/>
          <p:cNvSpPr/>
          <p:nvPr/>
        </p:nvSpPr>
        <p:spPr>
          <a:xfrm>
            <a:off x="9555251" y="2990087"/>
            <a:ext cx="59436" cy="5943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646691" y="2971799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AI Solution Architect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Cross-squad alignment; architecture governance as new signals land</a:t>
            </a:r>
          </a:p>
        </p:txBody>
      </p:sp>
      <p:sp>
        <p:nvSpPr>
          <p:cNvPr id="92" name="Oval 91"/>
          <p:cNvSpPr/>
          <p:nvPr/>
        </p:nvSpPr>
        <p:spPr>
          <a:xfrm>
            <a:off x="9555251" y="3428999"/>
            <a:ext cx="59436" cy="59436"/>
          </a:xfrm>
          <a:prstGeom prst="ellipse">
            <a:avLst/>
          </a:prstGeom>
          <a:solidFill>
            <a:srgbClr val="EFA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646691" y="3410711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Product Owner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Prioritises new features and signals; evaluates agent performance</a:t>
            </a:r>
          </a:p>
        </p:txBody>
      </p:sp>
      <p:sp>
        <p:nvSpPr>
          <p:cNvPr id="94" name="Oval 93"/>
          <p:cNvSpPr/>
          <p:nvPr/>
        </p:nvSpPr>
        <p:spPr>
          <a:xfrm>
            <a:off x="9555251" y="3867911"/>
            <a:ext cx="59436" cy="5943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46691" y="3849623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FD AI Engineers</a:t>
            </a:r>
            <a:r>
              <a:rPr sz="700" b="1">
                <a:solidFill>
                  <a:srgbClr val="0F3CC9"/>
                </a:solidFill>
                <a:latin typeface="Nunito"/>
              </a:rPr>
              <a:t>  1-2x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Prompt refinement, eval drift detection, model version transitions</a:t>
            </a:r>
          </a:p>
        </p:txBody>
      </p:sp>
      <p:sp>
        <p:nvSpPr>
          <p:cNvPr id="96" name="Oval 95"/>
          <p:cNvSpPr/>
          <p:nvPr/>
        </p:nvSpPr>
        <p:spPr>
          <a:xfrm>
            <a:off x="9555251" y="4306823"/>
            <a:ext cx="59436" cy="5943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646691" y="4288536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Platform / Infra Engineer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Autoscaling, token cost governance, inference latency monitoring</a:t>
            </a:r>
          </a:p>
        </p:txBody>
      </p:sp>
      <p:sp>
        <p:nvSpPr>
          <p:cNvPr id="98" name="Oval 97"/>
          <p:cNvSpPr/>
          <p:nvPr/>
        </p:nvSpPr>
        <p:spPr>
          <a:xfrm>
            <a:off x="9555251" y="4745736"/>
            <a:ext cx="59436" cy="5943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646691" y="4727448"/>
            <a:ext cx="1978075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800" b="1">
                <a:solidFill>
                  <a:srgbClr val="141414"/>
                </a:solidFill>
                <a:latin typeface="Nunito"/>
              </a:rPr>
              <a:t>Data Engineer</a:t>
            </a:r>
          </a:p>
          <a:p>
            <a:pPr>
              <a:spcBef>
                <a:spcPts val="100"/>
              </a:spcBef>
            </a:pPr>
            <a:r>
              <a:rPr sz="650">
                <a:solidFill>
                  <a:srgbClr val="595959"/>
                </a:solidFill>
                <a:latin typeface="Nunito"/>
              </a:rPr>
              <a:t>New signal onboarding, embedding freshness, feedback loop pipelines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5488" y="6537960"/>
            <a:ext cx="36576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1">
                <a:solidFill>
                  <a:srgbClr val="A6A6A6"/>
                </a:solidFill>
                <a:latin typeface="Nunito"/>
              </a:rPr>
              <a:t>Reliance</a:t>
            </a:r>
            <a:r>
              <a:rPr sz="750" b="0">
                <a:solidFill>
                  <a:srgbClr val="A6A6A6"/>
                </a:solidFill>
                <a:latin typeface="Nunito"/>
              </a:rPr>
              <a:t> x </a:t>
            </a:r>
            <a:r>
              <a:rPr sz="750" b="1">
                <a:solidFill>
                  <a:srgbClr val="A6A6A6"/>
                </a:solidFill>
                <a:latin typeface="Nunito"/>
              </a:rPr>
              <a:t>Accenture</a:t>
            </a:r>
            <a:r>
              <a:rPr sz="750" b="0">
                <a:solidFill>
                  <a:srgbClr val="A6A6A6"/>
                </a:solidFill>
                <a:latin typeface="Nunito"/>
              </a:rPr>
              <a:t> Strategic Partnership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515807" y="653796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750" b="0" i="0">
                <a:solidFill>
                  <a:srgbClr val="A6A6A6"/>
                </a:solidFill>
                <a:latin typeface="Nunito"/>
              </a:rPr>
              <a:t>Copyright Accenture 2026.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